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Plus Jakarta Sans"/>
      <ns0:bold ns1:id="rIdFont19"/>
      <ns0:regular ns1:id="rIdFont20"/>
    </ns0:embeddedFont>
    <ns0:embeddedFont>
      <ns0:font typeface="JetBrains Mono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a64da74b-8ebf-4c61-9d62-6d9d1d39f651.fntdata" /><ns0:Relationship Id="rIdFont20" Type="http://schemas.openxmlformats.org/officeDocument/2006/relationships/font" Target="fonts/d1555d06-df75-4d78-a9cf-dccd12e4da93.fntdata" /><ns0:Relationship Id="rIdFont21" Type="http://schemas.openxmlformats.org/officeDocument/2006/relationships/font" Target="fonts/8b0a6dbd-4602-4ca4-92da-7c1e514a07b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419725"/>
            <a:ext cx="10972800" cy="828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77475" y="609600"/>
            <a:ext cx="1304925" cy="2857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41972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6953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9875" y="666750"/>
            <a:ext cx="10953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WEEK 7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60401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CYBERSECURITY INTERNSHIP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574726"/>
            <a:ext cx="9101137" cy="1051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FFFFFF"/>
                </a:solidFill>
                <a:latin typeface="Plus Jakarta Sans"/>
              </a:rPr>
              <a:t>Vulnerability Assessment &amp; Penetration Testing (VAPT)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816548"/>
            <a:ext cx="83343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Plus Jakarta Sans"/>
              </a:rPr>
              <a:t>Web Application Security Testing with Burp Suite Community Edition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666750"/>
            <a:ext cx="1595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DG INTERNS 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695950"/>
            <a:ext cx="2405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INTERN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876925"/>
            <a:ext cx="2405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Plus Jakarta Sans"/>
              </a:rPr>
              <a:t>K. JENIFA JASMINE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096000"/>
            <a:ext cx="2405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ID: DG/SEPTEMBER/CYBER/240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5025" y="5695950"/>
            <a:ext cx="18573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900" i="0" u="none">
                <a:solidFill>
                  <a:srgbClr val="64748B"/>
                </a:solidFill>
                <a:latin typeface="Plus Jakarta Sans"/>
              </a:rPr>
              <a:t>SUBMISSION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5025" y="5876925"/>
            <a:ext cx="1857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200" i="0" u="none">
                <a:solidFill>
                  <a:srgbClr val="F1F5F9"/>
                </a:solidFill>
                <a:latin typeface="Plus Jakarta Sans"/>
              </a:rPr>
              <a:t>October 20,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5025" y="6096000"/>
            <a:ext cx="1857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975" i="0" u="none">
                <a:solidFill>
                  <a:srgbClr val="94A3B8"/>
                </a:solidFill>
                <a:latin typeface="Plus Jakarta Sans"/>
              </a:rPr>
              <a:t>Duration: Sep 01 - Nov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28962"/>
            <a:ext cx="257175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3128962"/>
            <a:ext cx="257175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128962"/>
            <a:ext cx="257175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3128962"/>
            <a:ext cx="257175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Table of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405187"/>
            <a:ext cx="25241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lus Jakarta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805237"/>
            <a:ext cx="26503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4100512"/>
            <a:ext cx="2114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Introduction, Scope, and Tooling Suite configuration.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6175" y="3405187"/>
            <a:ext cx="25241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lus Jakarta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6175" y="3805237"/>
            <a:ext cx="26503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Recon &amp;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6175" y="4100512"/>
            <a:ext cx="2114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Target interception architecture and surface discovery.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3405187"/>
            <a:ext cx="25241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lus Jakarta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3805237"/>
            <a:ext cx="26503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Vulnerability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4100512"/>
            <a:ext cx="2114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SQLi, XSS, Broken Auth, and Parameter Tampering proof.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6875" y="3405187"/>
            <a:ext cx="25241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lus Jakarta Sa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6875" y="3805237"/>
            <a:ext cx="26503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Risk Matrix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6875" y="4100512"/>
            <a:ext cx="2114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VAPT severity evaluation and technical remediations.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188493"/>
            <a:ext cx="5334000" cy="139541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48400" y="3295650"/>
            <a:ext cx="5334000" cy="11811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188493"/>
            <a:ext cx="38100" cy="139541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48400" y="3295650"/>
            <a:ext cx="38100" cy="1181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Executive Summary &amp;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417093"/>
            <a:ext cx="63507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Evaluation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712368"/>
            <a:ext cx="49339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Hands-on implementation of the full VAPT lifecycle. Combines automated scanning with manual proxy manipulation to document application weaknesses.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3524250"/>
            <a:ext cx="56769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Lab Scope &amp;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3819525"/>
            <a:ext cx="49339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Testing strictly restricted to isolated local targets: DVWA, OWASP Juice Shop, and TestPHP. Zero production systems impacted.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38512"/>
            <a:ext cx="1840259" cy="1171575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88009" y="3338512"/>
            <a:ext cx="1840259" cy="1171575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66419" y="3338512"/>
            <a:ext cx="1840259" cy="1171575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44829" y="3338512"/>
            <a:ext cx="1840259" cy="1171575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23239" y="3328987"/>
            <a:ext cx="1859309" cy="1190625"/>
          </a:xfrm>
          <a:prstGeom prst="roundRect">
            <a:avLst>
              <a:gd name="adj" fmla="val 96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259" y="3848100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669" y="3848100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079" y="3848100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7489" y="3848100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355" y="3567112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9477" y="3567112"/>
            <a:ext cx="25717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2175" y="3567112"/>
            <a:ext cx="22860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4872" y="3567112"/>
            <a:ext cx="200025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7094" y="3567112"/>
            <a:ext cx="17145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VAPT Methodology Followed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096" y="3910012"/>
            <a:ext cx="181526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Plus Jakarta Sans"/>
              </a:rPr>
              <a:t>1. Recon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317" y="4129087"/>
            <a:ext cx="172882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Scoping &amp; setup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506" y="3910012"/>
            <a:ext cx="181526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Plus Jakarta Sans"/>
              </a:rPr>
              <a:t>2. Mapping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3727" y="4129087"/>
            <a:ext cx="172882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Site surface 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8916" y="3910012"/>
            <a:ext cx="181526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Plus Jakarta Sans"/>
              </a:rPr>
              <a:t>3. 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2137" y="4129087"/>
            <a:ext cx="172882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Manual &amp; Burp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7326" y="3910012"/>
            <a:ext cx="181526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Plus Jakarta Sans"/>
              </a:rPr>
              <a:t>4. Exploitation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0546" y="4129087"/>
            <a:ext cx="172882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Proof of concept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45260" y="3910012"/>
            <a:ext cx="181526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5803D"/>
                </a:solidFill>
                <a:latin typeface="Plus Jakarta Sans"/>
              </a:rPr>
              <a:t>5.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8481" y="4129087"/>
            <a:ext cx="172882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166534"/>
                </a:solidFill>
                <a:latin typeface="Plus Jakarta Sans"/>
              </a:rPr>
              <a:t>Remediation plan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19800" y="2975967"/>
            <a:ext cx="5562600" cy="1820465"/>
          </a:xfrm>
          <a:prstGeom prst="roundRect">
            <a:avLst>
              <a:gd name="adj" fmla="val 627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19387"/>
            <a:ext cx="5105400" cy="676275"/>
          </a:xfrm>
          <a:prstGeom prst="roundRect">
            <a:avLst>
              <a:gd name="adj" fmla="val 112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548062"/>
            <a:ext cx="5105400" cy="676275"/>
          </a:xfrm>
          <a:prstGeom prst="roundRect">
            <a:avLst>
              <a:gd name="adj" fmla="val 112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376737"/>
            <a:ext cx="5105400" cy="676275"/>
          </a:xfrm>
          <a:prstGeom prst="roundRect">
            <a:avLst>
              <a:gd name="adj" fmla="val 112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TASK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Burp Suite Interception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0" y="3471267"/>
            <a:ext cx="5200650" cy="1096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94A3B8"/>
                </a:solidFill>
                <a:latin typeface="JetBrains Mono"/>
              </a:rPr>
              <a:t>POST /dvwa/login.php HTTP/1.1 Host: localhost Content-Type: application/x-www-form-urlencoded username=admin&amp;password=password&amp;Login=Login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871787"/>
            <a:ext cx="63007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1. Proxy Listener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090862"/>
            <a:ext cx="6000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Firefox manual proxy pointed to 127.0.0.1:8080.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700462"/>
            <a:ext cx="63007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2. CA Certificate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919537"/>
            <a:ext cx="6000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PortSwigger CA installed to allow seamless HTTPS inspection.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529137"/>
            <a:ext cx="63007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3. Request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748212"/>
            <a:ext cx="6000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Captured plaintext credential transmission via POST requests.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3204567"/>
            <a:ext cx="2000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JetBrains Mono"/>
              </a:rPr>
              <a:t>INTERCEPTED POST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0350" y="3204567"/>
            <a:ext cx="1219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JetBrains Mono"/>
              </a:rPr>
              <a:t>127.0.0.1:8080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862262"/>
          <a:ext cx="10972797" cy="20478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700908"/>
                <a:gridCol w="1243161"/>
                <a:gridCol w="2457598"/>
                <a:gridCol w="3571130"/>
              </a:tblGrid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Endpoint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Method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Parameters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Observed Surface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JetBrains Mono"/>
                        </a:rPr>
                        <a:t>/dvwa/login.php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username, password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No rate limiting / lockout check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JetBrains Mono"/>
                        </a:rPr>
                        <a:t>/dvwa/vulnerabilities/sqli/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GET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id, Submit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Query result reflected directly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JetBrains Mono"/>
                        </a:rPr>
                        <a:t>/dvwa/vulnerabilities/xss_r/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GET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Unsanitised user input reflection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JetBrains Mono"/>
                        </a:rPr>
                        <a:t>/rest/user/login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email, password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JSON API response returning JWT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TASK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Attack Surface Mapping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53700" y="533400"/>
            <a:ext cx="1028700" cy="219075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19800" y="3009900"/>
            <a:ext cx="5562600" cy="1619250"/>
          </a:xfrm>
          <a:prstGeom prst="roundRect">
            <a:avLst>
              <a:gd name="adj" fmla="val 705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090862"/>
            <a:ext cx="5181600" cy="676275"/>
          </a:xfrm>
          <a:prstGeom prst="roundRect">
            <a:avLst>
              <a:gd name="adj" fmla="val 112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881437"/>
            <a:ext cx="5181600" cy="66675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09750" y="3433762"/>
            <a:ext cx="914400" cy="200025"/>
          </a:xfrm>
          <a:prstGeom prst="roundRect">
            <a:avLst>
              <a:gd name="adj" fmla="val 19047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752475"/>
            <a:ext cx="11582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SQL Injection in Query Parameter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66737"/>
            <a:ext cx="2547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C2626"/>
                </a:solidFill>
                <a:latin typeface="Plus Jakarta Sans"/>
              </a:rPr>
              <a:t>FINDING 7.1 • HIGH SEVERITY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0" y="571500"/>
            <a:ext cx="8953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91B1B"/>
                </a:solidFill>
                <a:latin typeface="Plus Jakarta Sans"/>
              </a:rPr>
              <a:t>CRITICAL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0300" y="3200400"/>
            <a:ext cx="59817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EF4444"/>
                </a:solidFill>
                <a:latin typeface="JetBrains Mono"/>
              </a:rPr>
              <a:t>// Burp Repeater Request Payload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300" y="3409950"/>
            <a:ext cx="59817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94A3B8"/>
                </a:solidFill>
                <a:latin typeface="JetBrains Mono"/>
              </a:rPr>
              <a:t>GET /dvwa/vulnerabilities/sqli/?id=%27+OR+1%3D1+--&amp;Submit=Submit HTTP/1.1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0300" y="3695700"/>
            <a:ext cx="59817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22C55E"/>
                </a:solidFill>
                <a:latin typeface="JetBrains Mono"/>
              </a:rPr>
              <a:t>// Server Response Extract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300" y="3905250"/>
            <a:ext cx="52768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94A3B8"/>
                </a:solidFill>
                <a:latin typeface="JetBrains Mono"/>
              </a:rPr>
              <a:t>HTTP/1.1 200 OK</a:t>
            </a:r>
            <a:r>
              <a:t>
</a:t>
            </a:r>
            <a:r>
              <a:rPr b="0" sz="825" i="0" u="none">
                <a:solidFill>
                  <a:srgbClr val="94A3B8"/>
                </a:solidFill>
                <a:latin typeface="JetBrains Mono"/>
              </a:rPr>
              <a:t> ID: ' OR 1=1 --</a:t>
            </a:r>
            <a:r>
              <a:t>
</a:t>
            </a:r>
            <a:r>
              <a:rPr b="0" sz="825" i="0" u="none">
                <a:solidFill>
                  <a:srgbClr val="94A3B8"/>
                </a:solidFill>
                <a:latin typeface="JetBrains Mono"/>
              </a:rPr>
              <a:t> First name: admin</a:t>
            </a:r>
            <a:r>
              <a:t>
</a:t>
            </a:r>
            <a:r>
              <a:rPr b="0" sz="825" i="0" u="none">
                <a:solidFill>
                  <a:srgbClr val="94A3B8"/>
                </a:solidFill>
                <a:latin typeface="JetBrains Mono"/>
              </a:rPr>
              <a:t> Surname: database_admin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243262"/>
            <a:ext cx="6400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Tested Vector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452812"/>
            <a:ext cx="6096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Injected payload: into 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id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 parameter.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4033837"/>
            <a:ext cx="6400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Observed Behavior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4243387"/>
            <a:ext cx="6096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Application bypassed parameter checks and returned full database table records.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7850" y="3452812"/>
            <a:ext cx="933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JetBrains Mono"/>
              </a:rPr>
              <a:t>' OR 1=1 --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429875" y="533400"/>
            <a:ext cx="1152525" cy="21907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19800" y="3009900"/>
            <a:ext cx="5562600" cy="1619250"/>
          </a:xfrm>
          <a:prstGeom prst="roundRect">
            <a:avLst>
              <a:gd name="adj" fmla="val 705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090862"/>
            <a:ext cx="5181600" cy="676275"/>
          </a:xfrm>
          <a:prstGeom prst="roundRect">
            <a:avLst>
              <a:gd name="adj" fmla="val 112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881437"/>
            <a:ext cx="5181600" cy="66675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71700" y="3433762"/>
            <a:ext cx="685800" cy="200025"/>
          </a:xfrm>
          <a:prstGeom prst="roundRect">
            <a:avLst>
              <a:gd name="adj" fmla="val 19047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752475"/>
            <a:ext cx="11582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Reflected Cross-Site Scripting (XSS)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66737"/>
            <a:ext cx="2845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Plus Jakarta Sans"/>
              </a:rPr>
              <a:t>FINDING 7.2 • MEDIUM SEVERITY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4175" y="571500"/>
            <a:ext cx="10191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2400E"/>
                </a:solidFill>
                <a:latin typeface="Plus Jakarta Sans"/>
              </a:rPr>
              <a:t>MODERATE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0300" y="3200400"/>
            <a:ext cx="59817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F59E0B"/>
                </a:solidFill>
                <a:latin typeface="JetBrains Mono"/>
              </a:rPr>
              <a:t>// Burp Repeater Request Payload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300" y="3409950"/>
            <a:ext cx="52768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94A3B8"/>
                </a:solidFill>
                <a:latin typeface="JetBrains Mono"/>
              </a:rPr>
              <a:t>GET /dvwa/vulnerabilities/xss_r/?name=%3Cscript%3Ealert%281%29%3C%2Fscript%3E HTTP/1.1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0300" y="3829050"/>
            <a:ext cx="59817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22C55E"/>
                </a:solidFill>
                <a:latin typeface="JetBrains Mono"/>
              </a:rPr>
              <a:t>// Server Response Render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300" y="4038600"/>
            <a:ext cx="52768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94A3B8"/>
                </a:solidFill>
                <a:latin typeface="JetBrains Mono"/>
              </a:rPr>
              <a:t>HTTP/1.1 200 OK</a:t>
            </a:r>
            <a:r>
              <a:t>
</a:t>
            </a:r>
            <a:r>
              <a:rPr b="0" sz="825" i="0" u="none">
                <a:solidFill>
                  <a:srgbClr val="94A3B8"/>
                </a:solidFill>
                <a:latin typeface="JetBrains Mono"/>
              </a:rPr>
              <a:t> </a:t>
            </a:r>
            <a:r>
              <a:t>
</a:t>
            </a:r>
            <a:r>
              <a:rPr b="0" sz="825" i="0" u="none">
                <a:solidFill>
                  <a:srgbClr val="94A3B8"/>
                </a:solidFill>
                <a:latin typeface="JetBrains Mono"/>
              </a:rPr>
              <a:t>   Hello alert(1)</a:t>
            </a:r>
            <a:r>
              <a:t>
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243262"/>
            <a:ext cx="6400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Tested Vector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452812"/>
            <a:ext cx="6096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Injected script payload: into 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name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 field.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4033837"/>
            <a:ext cx="6400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Impact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4243387"/>
            <a:ext cx="6096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Session hijacking, DOM manipulation, cookie theft via client-side script execution.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09800" y="3452812"/>
            <a:ext cx="7048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JetBrains Mono"/>
              </a:rPr>
              <a:t>alert(1)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429875" y="533400"/>
            <a:ext cx="1152525" cy="21907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33712"/>
            <a:ext cx="5372100" cy="1571625"/>
          </a:xfrm>
          <a:prstGeom prst="roundRect">
            <a:avLst>
              <a:gd name="adj" fmla="val 727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114675"/>
            <a:ext cx="537210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752475"/>
            <a:ext cx="11582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Broken Authentication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66737"/>
            <a:ext cx="2845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Plus Jakarta Sans"/>
              </a:rPr>
              <a:t>FINDING 7.3 • MEDIUM SEVERITY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4175" y="571500"/>
            <a:ext cx="10191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2400E"/>
                </a:solidFill>
                <a:latin typeface="Plus Jakarta Sans"/>
              </a:rPr>
              <a:t>MODERATE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262312"/>
            <a:ext cx="64508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Burp Intruder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576637"/>
            <a:ext cx="5010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Ran automated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Sniper attack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using custom wordlists against password parameter.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033837"/>
            <a:ext cx="5010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Zero account lockouts, CAPTCHA challenges, or IP throttling observed after 20+ sequential attempts.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3343275"/>
            <a:ext cx="57531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Parameter Tampering (IDOR)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3657600"/>
            <a:ext cx="57531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Modified numerical 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id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values in backend URLs.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3952875"/>
            <a:ext cx="5010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Direct access granted to other simulated user profiles without session validation.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81700" y="2676525"/>
            <a:ext cx="5600700" cy="2419350"/>
          </a:xfrm>
          <a:prstGeom prst="roundRect">
            <a:avLst>
              <a:gd name="adj" fmla="val 472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14650"/>
            <a:ext cx="5143500" cy="809625"/>
          </a:xfrm>
          <a:prstGeom prst="roundRect">
            <a:avLst>
              <a:gd name="adj" fmla="val 94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876675"/>
            <a:ext cx="5143500" cy="981075"/>
          </a:xfrm>
          <a:prstGeom prst="roundRect">
            <a:avLst>
              <a:gd name="adj" fmla="val 77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228975"/>
            <a:ext cx="5143500" cy="352425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3657600"/>
            <a:ext cx="5143500" cy="352425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0300" y="4086225"/>
            <a:ext cx="5143500" cy="352425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0300" y="4514850"/>
            <a:ext cx="5143500" cy="352425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TASK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Directory &amp; Hidden Endpoint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300" y="2905125"/>
            <a:ext cx="59817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DISCOVERED PATHS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105150"/>
            <a:ext cx="6250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Automated Brute-Forcing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362325"/>
            <a:ext cx="5953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Used Gobuster and Dirsearch wordlists alongside Burp passive spidering.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067175"/>
            <a:ext cx="6250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Unlinked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4324350"/>
            <a:ext cx="4857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Identified unreferenced admin interfaces and development configuration files.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3650" y="3324225"/>
            <a:ext cx="49720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DC2626"/>
                </a:solidFill>
                <a:latin typeface="JetBrains Mono"/>
              </a:rPr>
              <a:t>/admin </a:t>
            </a:r>
            <a:r>
              <a:rPr b="0" sz="825" i="0" u="none">
                <a:solidFill>
                  <a:srgbClr val="0F172A"/>
                </a:solidFill>
                <a:latin typeface="JetBrains Mono"/>
              </a:rPr>
              <a:t>(Administrative interface)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3650" y="3752850"/>
            <a:ext cx="49720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JetBrains Mono"/>
              </a:rPr>
              <a:t>/api </a:t>
            </a:r>
            <a:r>
              <a:rPr b="0" sz="825" i="0" u="none">
                <a:solidFill>
                  <a:srgbClr val="0F172A"/>
                </a:solidFill>
                <a:latin typeface="JetBrains Mono"/>
              </a:rPr>
              <a:t>(Unauthenticated REST root)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3650" y="4181475"/>
            <a:ext cx="49720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D97706"/>
                </a:solidFill>
                <a:latin typeface="JetBrains Mono"/>
              </a:rPr>
              <a:t>/config </a:t>
            </a:r>
            <a:r>
              <a:rPr b="0" sz="825" i="0" u="none">
                <a:solidFill>
                  <a:srgbClr val="0F172A"/>
                </a:solidFill>
                <a:latin typeface="JetBrains Mono"/>
              </a:rPr>
              <a:t>(Exposed server configurations)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3650" y="4610100"/>
            <a:ext cx="49720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D97706"/>
                </a:solidFill>
                <a:latin typeface="JetBrains Mono"/>
              </a:rPr>
              <a:t>/backup </a:t>
            </a:r>
            <a:r>
              <a:rPr b="0" sz="825" i="0" u="none">
                <a:solidFill>
                  <a:srgbClr val="0F172A"/>
                </a:solidFill>
                <a:latin typeface="JetBrains Mono"/>
              </a:rPr>
              <a:t>(Development database dump)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01100" y="3181350"/>
            <a:ext cx="676275" cy="219075"/>
          </a:xfrm>
          <a:prstGeom prst="roundRect">
            <a:avLst>
              <a:gd name="adj" fmla="val 17391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801100" y="3590925"/>
            <a:ext cx="628650" cy="219075"/>
          </a:xfrm>
          <a:prstGeom prst="roundRect">
            <a:avLst>
              <a:gd name="adj" fmla="val 1739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01100" y="4000500"/>
            <a:ext cx="628650" cy="219075"/>
          </a:xfrm>
          <a:prstGeom prst="roundRect">
            <a:avLst>
              <a:gd name="adj" fmla="val 1739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01100" y="4410075"/>
            <a:ext cx="628650" cy="219075"/>
          </a:xfrm>
          <a:prstGeom prst="roundRect">
            <a:avLst>
              <a:gd name="adj" fmla="val 1739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01100" y="4819650"/>
            <a:ext cx="447675" cy="219075"/>
          </a:xfrm>
          <a:prstGeom prst="roundRect">
            <a:avLst>
              <a:gd name="adj" fmla="val 17391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" y="2657475"/>
          <a:ext cx="10972799" cy="24574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4511575"/>
                <a:gridCol w="1930896"/>
                <a:gridCol w="1596628"/>
                <a:gridCol w="2933700"/>
              </a:tblGrid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Vulnerability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Likelihood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Impact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Overall Risk Rating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SQL Injection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Reflected XSS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Broken Authentication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Hidden Endpoints (/admin, /api)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Parameter Tampering (IDOR)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Risk Summary &amp; Severity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77300" y="3219450"/>
            <a:ext cx="6191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91B1B"/>
                </a:solidFill>
                <a:latin typeface="Plus Jakarta Sans"/>
              </a:rPr>
              <a:t>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77300" y="3629025"/>
            <a:ext cx="5715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2400E"/>
                </a:solidFill>
                <a:latin typeface="Plus Jakarta Sans"/>
              </a:rPr>
              <a:t>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77300" y="4038600"/>
            <a:ext cx="5715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2400E"/>
                </a:solidFill>
                <a:latin typeface="Plus Jakarta Sans"/>
              </a:rPr>
              <a:t>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77300" y="4448175"/>
            <a:ext cx="5715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2400E"/>
                </a:solidFill>
                <a:latin typeface="Plus Jakarta Sans"/>
              </a:rP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77300" y="4857750"/>
            <a:ext cx="3905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A3412"/>
                </a:solidFill>
                <a:latin typeface="Plus Jakarta Sans"/>
              </a:rPr>
              <a:t>HIGH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514975"/>
            <a:ext cx="10972800" cy="733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51497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571625"/>
            <a:ext cx="3505200" cy="942975"/>
          </a:xfrm>
          <a:prstGeom prst="roundRect">
            <a:avLst>
              <a:gd name="adj" fmla="val 808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1571625"/>
            <a:ext cx="3505200" cy="942975"/>
          </a:xfrm>
          <a:prstGeom prst="roundRect">
            <a:avLst>
              <a:gd name="adj" fmla="val 808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7200" y="1571625"/>
            <a:ext cx="3505200" cy="942975"/>
          </a:xfrm>
          <a:prstGeom prst="roundRect">
            <a:avLst>
              <a:gd name="adj" fmla="val 808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6096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REMEDIATION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82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Plus Jakarta Sans"/>
              </a:rPr>
              <a:t>Conclusion &amp; Key Mitigations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381000" y="5753100"/>
            <a:ext cx="12954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Plus Jakarta Sans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381000" y="6076950"/>
            <a:ext cx="12954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End of Week 7 VAPT Report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1762125"/>
            <a:ext cx="41005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1. Parameterized Queries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019300"/>
            <a:ext cx="32194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Enforce prepared statements across all database connectors to block SQLi.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3900" y="1762125"/>
            <a:ext cx="41005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2. Context Escaping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3900" y="2019300"/>
            <a:ext cx="32194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Apply HTML entity output encoding and strict CSP headers against XSS.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7700" y="1762125"/>
            <a:ext cx="39243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3. Auth Rate Limiting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7700" y="2019300"/>
            <a:ext cx="32194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Implement exponential back-off, lockout limits, and MFA challenge requirements.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